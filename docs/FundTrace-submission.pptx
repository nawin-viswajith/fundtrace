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rPr sz="600"/>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a:latin typeface="Google Sans Flex"/>
              </a:rPr>
              <a:t>Aura Bros</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a:latin typeface="Google Sans Flex"/>
              </a:rPr>
              <a:t>Mari Raja</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sz="1100">
                <a:latin typeface="Google Sans Flex"/>
              </a:rPr>
              <a:t>BFSI: Intelligent Risk, Fraud &amp; Financial Experiences \u2014 build an AI-powered solution addressing meaningful challenges in banking, financial services, insurance or related industries: detecting/mitigating fraud or risk, automating complex processes, improving customer interactions, or more personalised financial experiences: FundTrace, an AI-assisted investigation workspace for bank payment disputes.</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r>
              <a:rPr sz="1800">
                <a:latin typeface="Google Sans Flex"/>
              </a:rPr>
              <a:t>Team members: Mari Raja, Nawin Viswajith, Venkataraman</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265176" y="1234440"/>
            <a:ext cx="8613648" cy="3291840"/>
          </a:xfrm>
          <a:prstGeom prst="rect">
            <a:avLst/>
          </a:prstGeom>
          <a:noFill/>
        </p:spPr>
        <p:txBody>
          <a:bodyPr wrap="square">
            <a:spAutoFit/>
          </a:bodyPr>
          <a:lstStyle/>
          <a:p>
            <a:pPr>
              <a:spcAft>
                <a:spcPts val="600"/>
              </a:spcAft>
            </a:pPr>
            <a:r>
              <a:rPr sz="1300" b="0">
                <a:solidFill>
                  <a:srgbClr val="4A5068"/>
                </a:solidFill>
                <a:latin typeface="Google Sans Flex"/>
              </a:rPr>
              <a:t>When a customer says “I didn’t make this ₹50,000 payment,” an investigator has hours, not days, before the money moves again. FundTrace reconstructs the observable downstream trail from ledger records, works out how much of each onward transfer could or must be the disputed money, shows the evidence behind every fraud signal, and has Gemini write a cited investigation report — with every claim fact-checked and the hallucination rate measured.</a:t>
            </a:r>
          </a:p>
          <a:p>
            <a:pPr>
              <a:spcAft>
                <a:spcPts val="600"/>
              </a:spcAft>
            </a:pPr>
            <a:r>
              <a:rPr sz="1300" b="0">
                <a:solidFill>
                  <a:srgbClr val="4A5068"/>
                </a:solidFill>
                <a:latin typeface="Google Sans Flex"/>
              </a:rPr>
              <a:t>A customer portal lets the account holder raise the dispute themselves — by guided chat, form, or free text that Gemini reads — and it lands as a ready case in the bank’s queue, with no re-keying. The investigator always decides; the AI never calculates money or liability.</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different is it from other ideas? Most tools stop at “the amounts match.” FundTrace computes four tracing conventions (clean-first, FIFO, pro-rata, tainted-first) for a derived lower bound and an inferred upper bound on every onward transfer — and Gemini proposes hypotheses about the trail that deterministic code checks, and can reject outright as “invented.”</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will it solve the problem? It turns hours of manual statement-reading into a cited AI report in about 3 minutes, flags accounts that may still hold disputed money within the golden hour, and lets the customer raise a dispute that maps straight into the bank’s workflow — no re-keying.</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USP: a rules + AI + ML system that never lets AI calculate money or decide liability. Every number is deterministic code, every AI claim is fact-checked and measured, and the one ML model is evaluated on a genuine synthetic hold-out — not scenarios the team wrote itself.</a:t>
            </a:r>
            <a:endParaRPr sz="1300">
              <a:latin typeface="Google Sans Flex"/>
              <a:ea typeface="Google Sans Flex"/>
              <a:cs typeface="Google Sans Flex"/>
              <a:sym typeface="Google Sans Flex"/>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TextBox 87"/>
          <p:cNvSpPr txBox="1"/>
          <p:nvPr/>
        </p:nvSpPr>
        <p:spPr>
          <a:xfrm>
            <a:off x="265176" y="1234440"/>
            <a:ext cx="2743200" cy="1691640"/>
          </a:xfrm>
          <a:prstGeom prst="rect">
            <a:avLst/>
          </a:prstGeom>
          <a:noFill/>
        </p:spPr>
        <p:txBody>
          <a:bodyPr wrap="square">
            <a:spAutoFit/>
          </a:bodyPr>
          <a:lstStyle/>
          <a:p>
            <a:pPr>
              <a:spcAft>
                <a:spcPts val="200"/>
              </a:spcAft>
            </a:pPr>
            <a:r>
              <a:rPr sz="1250" b="1">
                <a:solidFill>
                  <a:srgbClr val="14183A"/>
                </a:solidFill>
                <a:latin typeface="Google Sans Flex"/>
              </a:rPr>
              <a:t>Investigation</a:t>
            </a:r>
          </a:p>
          <a:p>
            <a:pPr>
              <a:spcAft>
                <a:spcPts val="0"/>
              </a:spcAft>
            </a:pPr>
            <a:r>
              <a:rPr sz="950" b="0">
                <a:solidFill>
                  <a:srgbClr val="4A5068"/>
                </a:solidFill>
                <a:latin typeface="Google Sans Flex"/>
              </a:rPr>
              <a:t>Time-ordered money trail · 4 attribution methods with ranges · 15 rule-based warning signs (R1–R15) · evidence checklist &amp; strength scores · hold recommendations · calculation record with replay</a:t>
            </a:r>
          </a:p>
        </p:txBody>
      </p:sp>
      <p:sp>
        <p:nvSpPr>
          <p:cNvPr id="89" name="TextBox 88"/>
          <p:cNvSpPr txBox="1"/>
          <p:nvPr/>
        </p:nvSpPr>
        <p:spPr>
          <a:xfrm>
            <a:off x="3200400" y="1234440"/>
            <a:ext cx="2743200" cy="1691640"/>
          </a:xfrm>
          <a:prstGeom prst="rect">
            <a:avLst/>
          </a:prstGeom>
          <a:noFill/>
        </p:spPr>
        <p:txBody>
          <a:bodyPr wrap="square">
            <a:spAutoFit/>
          </a:bodyPr>
          <a:lstStyle/>
          <a:p>
            <a:pPr>
              <a:spcAft>
                <a:spcPts val="200"/>
              </a:spcAft>
            </a:pPr>
            <a:r>
              <a:rPr sz="1250" b="1">
                <a:solidFill>
                  <a:srgbClr val="14183A"/>
                </a:solidFill>
                <a:latin typeface="Google Sans Flex"/>
              </a:rPr>
              <a:t>Generative AI</a:t>
            </a:r>
          </a:p>
          <a:p>
            <a:pPr>
              <a:spcAft>
                <a:spcPts val="0"/>
              </a:spcAft>
            </a:pPr>
            <a:r>
              <a:rPr sz="950" b="0">
                <a:solidFill>
                  <a:srgbClr val="4A5068"/>
                </a:solidFill>
                <a:latin typeface="Google Sans Flex"/>
              </a:rPr>
              <a:t>LangGraph investigation agent · cited report with validator + judge · AI hypotheses checked by code · multimodal evidence reading · Ask Demo Bank customer assistant · copilot &amp; translation</a:t>
            </a:r>
          </a:p>
        </p:txBody>
      </p:sp>
      <p:sp>
        <p:nvSpPr>
          <p:cNvPr id="90" name="TextBox 89"/>
          <p:cNvSpPr txBox="1"/>
          <p:nvPr/>
        </p:nvSpPr>
        <p:spPr>
          <a:xfrm>
            <a:off x="6135624" y="1234440"/>
            <a:ext cx="2743200" cy="1691640"/>
          </a:xfrm>
          <a:prstGeom prst="rect">
            <a:avLst/>
          </a:prstGeom>
          <a:noFill/>
        </p:spPr>
        <p:txBody>
          <a:bodyPr wrap="square">
            <a:spAutoFit/>
          </a:bodyPr>
          <a:lstStyle/>
          <a:p>
            <a:pPr>
              <a:spcAft>
                <a:spcPts val="200"/>
              </a:spcAft>
            </a:pPr>
            <a:r>
              <a:rPr sz="1250" b="1">
                <a:solidFill>
                  <a:srgbClr val="14183A"/>
                </a:solidFill>
                <a:latin typeface="Google Sans Flex"/>
              </a:rPr>
              <a:t>Machine learning</a:t>
            </a:r>
          </a:p>
          <a:p>
            <a:pPr>
              <a:spcAft>
                <a:spcPts val="0"/>
              </a:spcAft>
            </a:pPr>
            <a:r>
              <a:rPr sz="950" b="0">
                <a:solidFill>
                  <a:srgbClr val="4A5068"/>
                </a:solidFill>
                <a:latin typeface="Google Sans Flex"/>
              </a:rPr>
              <a:t>Unsupervised Isolation Forest behaviour model, no labels, evaluated on a synthetic hold-out (ROC-AUC ≈ 0.78) — a separate signal, never a 16th rule</a:t>
            </a:r>
          </a:p>
        </p:txBody>
      </p:sp>
      <p:sp>
        <p:nvSpPr>
          <p:cNvPr id="91" name="TextBox 90"/>
          <p:cNvSpPr txBox="1"/>
          <p:nvPr/>
        </p:nvSpPr>
        <p:spPr>
          <a:xfrm>
            <a:off x="265176" y="3017520"/>
            <a:ext cx="2743200" cy="1691640"/>
          </a:xfrm>
          <a:prstGeom prst="rect">
            <a:avLst/>
          </a:prstGeom>
          <a:noFill/>
        </p:spPr>
        <p:txBody>
          <a:bodyPr wrap="square">
            <a:spAutoFit/>
          </a:bodyPr>
          <a:lstStyle/>
          <a:p>
            <a:pPr>
              <a:spcAft>
                <a:spcPts val="200"/>
              </a:spcAft>
            </a:pPr>
            <a:r>
              <a:rPr sz="1250" b="1">
                <a:solidFill>
                  <a:srgbClr val="14183A"/>
                </a:solidFill>
                <a:latin typeface="Google Sans Flex"/>
              </a:rPr>
              <a:t>Customer side</a:t>
            </a:r>
          </a:p>
          <a:p>
            <a:pPr>
              <a:spcAft>
                <a:spcPts val="0"/>
              </a:spcAft>
            </a:pPr>
            <a:r>
              <a:rPr sz="950" b="0">
                <a:solidFill>
                  <a:srgbClr val="4A5068"/>
                </a:solidFill>
                <a:latin typeface="Google Sans Flex"/>
              </a:rPr>
              <a:t>Portal: dispute by guided chat, form, or free text · plain-language status tracking and uploads · safety-check insights · disputes mapped straight into the bank’s queue</a:t>
            </a:r>
          </a:p>
        </p:txBody>
      </p:sp>
      <p:sp>
        <p:nvSpPr>
          <p:cNvPr id="92" name="TextBox 91"/>
          <p:cNvSpPr txBox="1"/>
          <p:nvPr/>
        </p:nvSpPr>
        <p:spPr>
          <a:xfrm>
            <a:off x="3200400" y="3017520"/>
            <a:ext cx="2743200" cy="1691640"/>
          </a:xfrm>
          <a:prstGeom prst="rect">
            <a:avLst/>
          </a:prstGeom>
          <a:noFill/>
        </p:spPr>
        <p:txBody>
          <a:bodyPr wrap="square">
            <a:spAutoFit/>
          </a:bodyPr>
          <a:lstStyle/>
          <a:p>
            <a:pPr>
              <a:spcAft>
                <a:spcPts val="200"/>
              </a:spcAft>
            </a:pPr>
            <a:r>
              <a:rPr sz="1250" b="1">
                <a:solidFill>
                  <a:srgbClr val="14183A"/>
                </a:solidFill>
                <a:latin typeface="Google Sans Flex"/>
              </a:rPr>
              <a:t>Workflow &amp; security</a:t>
            </a:r>
          </a:p>
          <a:p>
            <a:pPr>
              <a:spcAft>
                <a:spcPts val="0"/>
              </a:spcAft>
            </a:pPr>
            <a:r>
              <a:rPr sz="950" b="0">
                <a:solidFill>
                  <a:srgbClr val="4A5068"/>
                </a:solidFill>
                <a:latin typeface="Google Sans Flex"/>
              </a:rPr>
              <a:t>Case queue with SLA clocks · roles &amp; case-level access · shared-account recovery split · hash-chained audit · field encryption (Cloud KMS) · DLP masking · MFA</a:t>
            </a:r>
          </a:p>
        </p:txBody>
      </p:sp>
      <p:sp>
        <p:nvSpPr>
          <p:cNvPr id="93" name="TextBox 92"/>
          <p:cNvSpPr txBox="1"/>
          <p:nvPr/>
        </p:nvSpPr>
        <p:spPr>
          <a:xfrm>
            <a:off x="6135624" y="3017520"/>
            <a:ext cx="2743200" cy="1691640"/>
          </a:xfrm>
          <a:prstGeom prst="rect">
            <a:avLst/>
          </a:prstGeom>
          <a:noFill/>
        </p:spPr>
        <p:txBody>
          <a:bodyPr wrap="square">
            <a:spAutoFit/>
          </a:bodyPr>
          <a:lstStyle/>
          <a:p>
            <a:pPr>
              <a:spcAft>
                <a:spcPts val="200"/>
              </a:spcAft>
            </a:pPr>
            <a:r>
              <a:rPr sz="1250" b="1">
                <a:solidFill>
                  <a:srgbClr val="14183A"/>
                </a:solidFill>
                <a:latin typeface="Google Sans Flex"/>
              </a:rPr>
              <a:t>Operations</a:t>
            </a:r>
          </a:p>
          <a:p>
            <a:pPr>
              <a:spcAft>
                <a:spcPts val="0"/>
              </a:spcAft>
            </a:pPr>
            <a:r>
              <a:rPr sz="950" b="0">
                <a:solidFill>
                  <a:srgbClr val="4A5068"/>
                </a:solidFill>
                <a:latin typeface="Google Sans Flex"/>
              </a:rPr>
              <a:t>Ledger ingest via Pub/Sub (ISO 20022 camt.053, CSV, JSON) · AI cost/latency/error tracking · deterministic + hold-out evaluation · demo-data generator</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Rounded Rectangle 95"/>
          <p:cNvSpPr/>
          <p:nvPr/>
        </p:nvSpPr>
        <p:spPr>
          <a:xfrm>
            <a:off x="265176" y="1508760"/>
            <a:ext cx="1188720" cy="868680"/>
          </a:xfrm>
          <a:prstGeom prst="roundRect">
            <a:avLst/>
          </a:prstGeom>
          <a:solidFill>
            <a:srgbClr val="14183A"/>
          </a:solidFill>
          <a:ln>
            <a:solidFill>
              <a:srgbClr val="14183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1. Customer</a:t>
            </a:r>
          </a:p>
          <a:p>
            <a:pPr algn="ctr"/>
            <a:r>
              <a:rPr sz="850">
                <a:solidFill>
                  <a:srgbClr val="C9CCE6"/>
                </a:solidFill>
                <a:latin typeface="Google Sans Flex"/>
              </a:rPr>
              <a:t>Raises a dispute: chat, form or free text</a:t>
            </a:r>
          </a:p>
        </p:txBody>
      </p:sp>
      <p:sp>
        <p:nvSpPr>
          <p:cNvPr id="97" name="Rounded Rectangle 96"/>
          <p:cNvSpPr/>
          <p:nvPr/>
        </p:nvSpPr>
        <p:spPr>
          <a:xfrm>
            <a:off x="1545336" y="1508760"/>
            <a:ext cx="1188720" cy="868680"/>
          </a:xfrm>
          <a:prstGeom prst="roundRect">
            <a:avLst/>
          </a:prstGeom>
          <a:solidFill>
            <a:srgbClr val="14183A"/>
          </a:solidFill>
          <a:ln>
            <a:solidFill>
              <a:srgbClr val="14183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2. Case created</a:t>
            </a:r>
          </a:p>
          <a:p>
            <a:pPr algn="ctr"/>
            <a:r>
              <a:rPr sz="850">
                <a:solidFill>
                  <a:srgbClr val="C9CCE6"/>
                </a:solidFill>
                <a:latin typeface="Google Sans Flex"/>
              </a:rPr>
              <a:t>Lands in the bank’s queue, SLA set</a:t>
            </a:r>
          </a:p>
        </p:txBody>
      </p:sp>
      <p:sp>
        <p:nvSpPr>
          <p:cNvPr id="98" name="Rounded Rectangle 97"/>
          <p:cNvSpPr/>
          <p:nvPr/>
        </p:nvSpPr>
        <p:spPr>
          <a:xfrm>
            <a:off x="2825496" y="1508760"/>
            <a:ext cx="1188720" cy="868680"/>
          </a:xfrm>
          <a:prstGeom prst="roundRect">
            <a:avLst/>
          </a:prstGeom>
          <a:solidFill>
            <a:srgbClr val="14183A"/>
          </a:solidFill>
          <a:ln>
            <a:solidFill>
              <a:srgbClr val="14183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3. Gather + trail</a:t>
            </a:r>
          </a:p>
          <a:p>
            <a:pPr algn="ctr"/>
            <a:r>
              <a:rPr sz="850">
                <a:solidFill>
                  <a:srgbClr val="C9CCE6"/>
                </a:solidFill>
                <a:latin typeface="Google Sans Flex"/>
              </a:rPr>
              <a:t>Ledger records → hashed snapshot</a:t>
            </a:r>
          </a:p>
        </p:txBody>
      </p:sp>
      <p:sp>
        <p:nvSpPr>
          <p:cNvPr id="99" name="Rounded Rectangle 98"/>
          <p:cNvSpPr/>
          <p:nvPr/>
        </p:nvSpPr>
        <p:spPr>
          <a:xfrm>
            <a:off x="4105656" y="1508760"/>
            <a:ext cx="1188720" cy="868680"/>
          </a:xfrm>
          <a:prstGeom prst="roundRect">
            <a:avLst/>
          </a:prstGeom>
          <a:solidFill>
            <a:srgbClr val="14183A"/>
          </a:solidFill>
          <a:ln>
            <a:solidFill>
              <a:srgbClr val="14183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4. Gemini explores</a:t>
            </a:r>
          </a:p>
          <a:p>
            <a:pPr algn="ctr"/>
            <a:r>
              <a:rPr sz="850">
                <a:solidFill>
                  <a:srgbClr val="C9CCE6"/>
                </a:solidFill>
                <a:latin typeface="Google Sans Flex"/>
              </a:rPr>
              <a:t>5 fixed tools; reads evidence</a:t>
            </a:r>
          </a:p>
        </p:txBody>
      </p:sp>
      <p:sp>
        <p:nvSpPr>
          <p:cNvPr id="100" name="Rounded Rectangle 99"/>
          <p:cNvSpPr/>
          <p:nvPr/>
        </p:nvSpPr>
        <p:spPr>
          <a:xfrm>
            <a:off x="5385816" y="1508760"/>
            <a:ext cx="1188720" cy="868680"/>
          </a:xfrm>
          <a:prstGeom prst="roundRect">
            <a:avLst/>
          </a:prstGeom>
          <a:solidFill>
            <a:srgbClr val="14183A"/>
          </a:solidFill>
          <a:ln>
            <a:solidFill>
              <a:srgbClr val="14183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5. Gemini drafts</a:t>
            </a:r>
          </a:p>
          <a:p>
            <a:pPr algn="ctr"/>
            <a:r>
              <a:rPr sz="850">
                <a:solidFill>
                  <a:srgbClr val="C9CCE6"/>
                </a:solidFill>
                <a:latin typeface="Google Sans Flex"/>
              </a:rPr>
              <a:t>Cited report · Pro model</a:t>
            </a:r>
          </a:p>
        </p:txBody>
      </p:sp>
      <p:sp>
        <p:nvSpPr>
          <p:cNvPr id="101" name="Rounded Rectangle 100"/>
          <p:cNvSpPr/>
          <p:nvPr/>
        </p:nvSpPr>
        <p:spPr>
          <a:xfrm>
            <a:off x="6665976" y="1508760"/>
            <a:ext cx="1188720" cy="868680"/>
          </a:xfrm>
          <a:prstGeom prst="roundRect">
            <a:avLst/>
          </a:prstGeom>
          <a:solidFill>
            <a:srgbClr val="14183A"/>
          </a:solidFill>
          <a:ln>
            <a:solidFill>
              <a:srgbClr val="14183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6. Validate + judge</a:t>
            </a:r>
          </a:p>
          <a:p>
            <a:pPr algn="ctr"/>
            <a:r>
              <a:rPr sz="850">
                <a:solidFill>
                  <a:srgbClr val="C9CCE6"/>
                </a:solidFill>
                <a:latin typeface="Google Sans Flex"/>
              </a:rPr>
              <a:t>Code checks claims; Gemini fact-checks</a:t>
            </a:r>
          </a:p>
        </p:txBody>
      </p:sp>
      <p:sp>
        <p:nvSpPr>
          <p:cNvPr id="102" name="Rounded Rectangle 101"/>
          <p:cNvSpPr/>
          <p:nvPr/>
        </p:nvSpPr>
        <p:spPr>
          <a:xfrm>
            <a:off x="7946136" y="1508760"/>
            <a:ext cx="1188720" cy="868680"/>
          </a:xfrm>
          <a:prstGeom prst="roundRect">
            <a:avLst/>
          </a:prstGeom>
          <a:solidFill>
            <a:srgbClr val="A8650B"/>
          </a:solidFill>
          <a:ln>
            <a:solidFill>
              <a:srgbClr val="A8650B"/>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14183A"/>
                </a:solidFill>
                <a:latin typeface="Google Sans Flex"/>
              </a:rPr>
              <a:t>7. Investigator</a:t>
            </a:r>
          </a:p>
          <a:p>
            <a:pPr algn="ctr"/>
            <a:r>
              <a:rPr sz="850">
                <a:solidFill>
                  <a:srgbClr val="4A5068"/>
                </a:solidFill>
                <a:latin typeface="Google Sans Flex"/>
              </a:rPr>
              <a:t>Reviews, approves holds, decides</a:t>
            </a:r>
          </a:p>
        </p:txBody>
      </p:sp>
      <p:cxnSp>
        <p:nvCxnSpPr>
          <p:cNvPr id="103" name="Connector 102"/>
          <p:cNvCxnSpPr/>
          <p:nvPr/>
        </p:nvCxnSpPr>
        <p:spPr>
          <a:xfrm>
            <a:off x="1453896" y="1943100"/>
            <a:ext cx="91440" cy="0"/>
          </a:xfrm>
          <a:prstGeom prst="line">
            <a:avLst/>
          </a:prstGeom>
          <a:ln w="22225">
            <a:solidFill>
              <a:srgbClr val="1418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2734056" y="1943100"/>
            <a:ext cx="91440" cy="0"/>
          </a:xfrm>
          <a:prstGeom prst="line">
            <a:avLst/>
          </a:prstGeom>
          <a:ln w="22225">
            <a:solidFill>
              <a:srgbClr val="1418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4014216" y="1943100"/>
            <a:ext cx="91440" cy="0"/>
          </a:xfrm>
          <a:prstGeom prst="line">
            <a:avLst/>
          </a:prstGeom>
          <a:ln w="22225">
            <a:solidFill>
              <a:srgbClr val="1418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5294376" y="1943100"/>
            <a:ext cx="91440" cy="0"/>
          </a:xfrm>
          <a:prstGeom prst="line">
            <a:avLst/>
          </a:prstGeom>
          <a:ln w="22225">
            <a:solidFill>
              <a:srgbClr val="1418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6574536" y="1943100"/>
            <a:ext cx="91440" cy="0"/>
          </a:xfrm>
          <a:prstGeom prst="line">
            <a:avLst/>
          </a:prstGeom>
          <a:ln w="22225">
            <a:solidFill>
              <a:srgbClr val="1418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854696" y="1943100"/>
            <a:ext cx="91440" cy="0"/>
          </a:xfrm>
          <a:prstGeom prst="line">
            <a:avLst/>
          </a:prstGeom>
          <a:ln w="22225">
            <a:solidFill>
              <a:srgbClr val="1418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5176" y="2697480"/>
            <a:ext cx="8613648" cy="274320"/>
          </a:xfrm>
          <a:prstGeom prst="rect">
            <a:avLst/>
          </a:prstGeom>
          <a:noFill/>
        </p:spPr>
        <p:txBody>
          <a:bodyPr wrap="square">
            <a:spAutoFit/>
          </a:bodyPr>
          <a:lstStyle/>
          <a:p>
            <a:pPr algn="ctr"/>
            <a:r>
              <a:rPr sz="900">
                <a:solidFill>
                  <a:srgbClr val="4A5068"/>
                </a:solidFill>
                <a:latin typeface="Google Sans Flex"/>
              </a:rPr>
              <a:t>Gemini never calculates money, balances or rules — those stay deterministic code throughout.</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pic>
        <p:nvPicPr>
          <p:cNvPr id="104" name="Picture 103" descr="portal.png"/>
          <p:cNvPicPr>
            <a:picLocks noChangeAspect="1"/>
          </p:cNvPicPr>
          <p:nvPr/>
        </p:nvPicPr>
        <p:blipFill>
          <a:blip r:embed="rId5"/>
          <a:stretch>
            <a:fillRect/>
          </a:stretch>
        </p:blipFill>
        <p:spPr>
          <a:xfrm>
            <a:off x="265176" y="1736344"/>
            <a:ext cx="4206240" cy="2196592"/>
          </a:xfrm>
          <a:prstGeom prst="rect">
            <a:avLst/>
          </a:prstGeom>
        </p:spPr>
      </p:pic>
      <p:sp>
        <p:nvSpPr>
          <p:cNvPr id="105" name="TextBox 104"/>
          <p:cNvSpPr txBox="1"/>
          <p:nvPr/>
        </p:nvSpPr>
        <p:spPr>
          <a:xfrm>
            <a:off x="265176" y="4480560"/>
            <a:ext cx="4206240" cy="274320"/>
          </a:xfrm>
          <a:prstGeom prst="rect">
            <a:avLst/>
          </a:prstGeom>
          <a:noFill/>
        </p:spPr>
        <p:txBody>
          <a:bodyPr wrap="square">
            <a:spAutoFit/>
          </a:bodyPr>
          <a:lstStyle/>
          <a:p>
            <a:pPr algn="ctr"/>
            <a:r>
              <a:rPr sz="900">
                <a:solidFill>
                  <a:srgbClr val="4A5068"/>
                </a:solidFill>
                <a:latin typeface="Google Sans Flex"/>
              </a:rPr>
              <a:t>Customer portal: raise a dispute, track progress</a:t>
            </a:r>
          </a:p>
        </p:txBody>
      </p:sp>
      <p:pic>
        <p:nvPicPr>
          <p:cNvPr id="106" name="Picture 105" descr="queue.png"/>
          <p:cNvPicPr>
            <a:picLocks noChangeAspect="1"/>
          </p:cNvPicPr>
          <p:nvPr/>
        </p:nvPicPr>
        <p:blipFill>
          <a:blip r:embed="rId6"/>
          <a:stretch>
            <a:fillRect/>
          </a:stretch>
        </p:blipFill>
        <p:spPr>
          <a:xfrm>
            <a:off x="4654296" y="1582046"/>
            <a:ext cx="4206240" cy="2505187"/>
          </a:xfrm>
          <a:prstGeom prst="rect">
            <a:avLst/>
          </a:prstGeom>
        </p:spPr>
      </p:pic>
      <p:sp>
        <p:nvSpPr>
          <p:cNvPr id="107" name="TextBox 106"/>
          <p:cNvSpPr txBox="1"/>
          <p:nvPr/>
        </p:nvSpPr>
        <p:spPr>
          <a:xfrm>
            <a:off x="4654296" y="4480560"/>
            <a:ext cx="4206240" cy="274320"/>
          </a:xfrm>
          <a:prstGeom prst="rect">
            <a:avLst/>
          </a:prstGeom>
          <a:noFill/>
        </p:spPr>
        <p:txBody>
          <a:bodyPr wrap="square">
            <a:spAutoFit/>
          </a:bodyPr>
          <a:lstStyle/>
          <a:p>
            <a:pPr algn="ctr"/>
            <a:r>
              <a:rPr sz="900">
                <a:solidFill>
                  <a:srgbClr val="4A5068"/>
                </a:solidFill>
                <a:latin typeface="Google Sans Flex"/>
              </a:rPr>
              <a:t>Bank view: case queue with SLA and priority</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265176" y="1600200"/>
            <a:ext cx="1828800" cy="822960"/>
          </a:xfrm>
          <a:prstGeom prst="roundRect">
            <a:avLst/>
          </a:prstGeom>
          <a:solidFill>
            <a:srgbClr val="222850"/>
          </a:solidFill>
          <a:ln>
            <a:solidFill>
              <a:srgbClr val="2228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Investigator UI
&amp; Customer portal</a:t>
            </a:r>
          </a:p>
          <a:p>
            <a:pPr algn="ctr"/>
            <a:r>
              <a:rPr sz="850">
                <a:solidFill>
                  <a:srgbClr val="FFFFFF"/>
                </a:solidFill>
                <a:latin typeface="Google Sans Flex"/>
              </a:rPr>
              <a:t>React, TypeScript, React Flow</a:t>
            </a:r>
          </a:p>
        </p:txBody>
      </p:sp>
      <p:sp>
        <p:nvSpPr>
          <p:cNvPr id="113" name="Rounded Rectangle 112"/>
          <p:cNvSpPr/>
          <p:nvPr/>
        </p:nvSpPr>
        <p:spPr>
          <a:xfrm>
            <a:off x="2368296" y="1600200"/>
            <a:ext cx="2377440" cy="822960"/>
          </a:xfrm>
          <a:prstGeom prst="roundRect">
            <a:avLst/>
          </a:prstGeom>
          <a:solidFill>
            <a:srgbClr val="3A3FB3"/>
          </a:solidFill>
          <a:ln>
            <a:solidFill>
              <a:srgbClr val="3A3FB3"/>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Cloud Run</a:t>
            </a:r>
          </a:p>
          <a:p>
            <a:pPr algn="ctr"/>
            <a:r>
              <a:rPr sz="850">
                <a:solidFill>
                  <a:srgbClr val="FFFFFF"/>
                </a:solidFill>
                <a:latin typeface="Google Sans Flex"/>
              </a:rPr>
              <a:t>FastAPI · LangGraph agent · rules R1–R15 · ML model · validator</a:t>
            </a:r>
          </a:p>
        </p:txBody>
      </p:sp>
      <p:cxnSp>
        <p:nvCxnSpPr>
          <p:cNvPr id="114" name="Connector 113"/>
          <p:cNvCxnSpPr/>
          <p:nvPr/>
        </p:nvCxnSpPr>
        <p:spPr>
          <a:xfrm>
            <a:off x="2093976" y="2011680"/>
            <a:ext cx="274320" cy="0"/>
          </a:xfrm>
          <a:prstGeom prst="line">
            <a:avLst/>
          </a:prstGeom>
          <a:ln w="22225">
            <a:solidFill>
              <a:srgbClr val="1418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5" name="Rounded Rectangle 114"/>
          <p:cNvSpPr/>
          <p:nvPr/>
        </p:nvSpPr>
        <p:spPr>
          <a:xfrm>
            <a:off x="5111496" y="1325880"/>
            <a:ext cx="3749039" cy="347472"/>
          </a:xfrm>
          <a:prstGeom prst="roundRect">
            <a:avLst/>
          </a:prstGeom>
          <a:solidFill>
            <a:srgbClr val="222850"/>
          </a:solidFill>
          <a:ln>
            <a:solidFill>
              <a:srgbClr val="2228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Vertex AI</a:t>
            </a:r>
          </a:p>
          <a:p>
            <a:pPr algn="ctr"/>
            <a:r>
              <a:rPr sz="850">
                <a:solidFill>
                  <a:srgbClr val="FFFFFF"/>
                </a:solidFill>
                <a:latin typeface="Google Sans Flex"/>
              </a:rPr>
              <a:t>Gemini Pro · Flash · Flash-Lite</a:t>
            </a:r>
          </a:p>
        </p:txBody>
      </p:sp>
      <p:cxnSp>
        <p:nvCxnSpPr>
          <p:cNvPr id="116" name="Connector 115"/>
          <p:cNvCxnSpPr/>
          <p:nvPr/>
        </p:nvCxnSpPr>
        <p:spPr>
          <a:xfrm flipV="1">
            <a:off x="4745736" y="1499616"/>
            <a:ext cx="365760" cy="512064"/>
          </a:xfrm>
          <a:prstGeom prst="line">
            <a:avLst/>
          </a:prstGeom>
          <a:ln w="22225">
            <a:solidFill>
              <a:srgbClr val="1418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7" name="Rounded Rectangle 116"/>
          <p:cNvSpPr/>
          <p:nvPr/>
        </p:nvSpPr>
        <p:spPr>
          <a:xfrm>
            <a:off x="5111496" y="1728216"/>
            <a:ext cx="3749039" cy="347472"/>
          </a:xfrm>
          <a:prstGeom prst="roundRect">
            <a:avLst/>
          </a:prstGeom>
          <a:solidFill>
            <a:srgbClr val="222850"/>
          </a:solidFill>
          <a:ln>
            <a:solidFill>
              <a:srgbClr val="2228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Cloud SQL</a:t>
            </a:r>
          </a:p>
          <a:p>
            <a:pPr algn="ctr"/>
            <a:r>
              <a:rPr sz="850">
                <a:solidFill>
                  <a:srgbClr val="FFFFFF"/>
                </a:solidFill>
                <a:latin typeface="Google Sans Flex"/>
              </a:rPr>
              <a:t>MySQL 8 · source of truth</a:t>
            </a:r>
          </a:p>
        </p:txBody>
      </p:sp>
      <p:sp>
        <p:nvSpPr>
          <p:cNvPr id="118" name="Rounded Rectangle 117"/>
          <p:cNvSpPr/>
          <p:nvPr/>
        </p:nvSpPr>
        <p:spPr>
          <a:xfrm>
            <a:off x="5111496" y="2130552"/>
            <a:ext cx="3749039" cy="347472"/>
          </a:xfrm>
          <a:prstGeom prst="roundRect">
            <a:avLst/>
          </a:prstGeom>
          <a:solidFill>
            <a:srgbClr val="222850"/>
          </a:solidFill>
          <a:ln>
            <a:solidFill>
              <a:srgbClr val="2228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Cloud Storage</a:t>
            </a:r>
          </a:p>
          <a:p>
            <a:pPr algn="ctr"/>
            <a:r>
              <a:rPr sz="850">
                <a:solidFill>
                  <a:srgbClr val="FFFFFF"/>
                </a:solidFill>
                <a:latin typeface="Google Sans Flex"/>
              </a:rPr>
              <a:t>write-once evidence</a:t>
            </a:r>
          </a:p>
        </p:txBody>
      </p:sp>
      <p:sp>
        <p:nvSpPr>
          <p:cNvPr id="119" name="Rounded Rectangle 118"/>
          <p:cNvSpPr/>
          <p:nvPr/>
        </p:nvSpPr>
        <p:spPr>
          <a:xfrm>
            <a:off x="5111496" y="2532888"/>
            <a:ext cx="3749039" cy="347472"/>
          </a:xfrm>
          <a:prstGeom prst="roundRect">
            <a:avLst/>
          </a:prstGeom>
          <a:solidFill>
            <a:srgbClr val="222850"/>
          </a:solidFill>
          <a:ln>
            <a:solidFill>
              <a:srgbClr val="2228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KMS · Secret Mgr · DLP</a:t>
            </a:r>
          </a:p>
          <a:p>
            <a:pPr algn="ctr"/>
            <a:r>
              <a:rPr sz="850">
                <a:solidFill>
                  <a:srgbClr val="FFFFFF"/>
                </a:solidFill>
                <a:latin typeface="Google Sans Flex"/>
              </a:rPr>
              <a:t>encryption, secrets, masking</a:t>
            </a:r>
          </a:p>
        </p:txBody>
      </p:sp>
      <p:sp>
        <p:nvSpPr>
          <p:cNvPr id="120" name="Rounded Rectangle 119"/>
          <p:cNvSpPr/>
          <p:nvPr/>
        </p:nvSpPr>
        <p:spPr>
          <a:xfrm>
            <a:off x="5111496" y="2935224"/>
            <a:ext cx="3749039" cy="347472"/>
          </a:xfrm>
          <a:prstGeom prst="roundRect">
            <a:avLst/>
          </a:prstGeom>
          <a:solidFill>
            <a:srgbClr val="222850"/>
          </a:solidFill>
          <a:ln>
            <a:solidFill>
              <a:srgbClr val="2228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100" b="1">
                <a:solidFill>
                  <a:srgbClr val="FFFFFF"/>
                </a:solidFill>
                <a:latin typeface="Google Sans Flex"/>
              </a:rPr>
              <a:t>Pub/Sub</a:t>
            </a:r>
          </a:p>
          <a:p>
            <a:pPr algn="ctr"/>
            <a:r>
              <a:rPr sz="850">
                <a:solidFill>
                  <a:srgbClr val="FFFFFF"/>
                </a:solidFill>
                <a:latin typeface="Google Sans Flex"/>
              </a:rPr>
              <a:t>ledger ingest, dead-letter</a:t>
            </a:r>
          </a:p>
        </p:txBody>
      </p:sp>
      <p:sp>
        <p:nvSpPr>
          <p:cNvPr id="121" name="TextBox 120"/>
          <p:cNvSpPr txBox="1"/>
          <p:nvPr/>
        </p:nvSpPr>
        <p:spPr>
          <a:xfrm>
            <a:off x="265176" y="3611880"/>
            <a:ext cx="8613648" cy="274320"/>
          </a:xfrm>
          <a:prstGeom prst="rect">
            <a:avLst/>
          </a:prstGeom>
          <a:noFill/>
        </p:spPr>
        <p:txBody>
          <a:bodyPr wrap="square">
            <a:spAutoFit/>
          </a:bodyPr>
          <a:lstStyle/>
          <a:p>
            <a:pPr algn="ctr"/>
            <a:r>
              <a:rPr sz="900">
                <a:solidFill>
                  <a:srgbClr val="4A5068"/>
                </a:solidFill>
                <a:latin typeface="Google Sans Flex"/>
              </a:rPr>
              <a:t>Observability: OpenTelemetry → Cloud Trace; redacted logs → Cloud Logging/Monitoring.  Path to bank scale: Dataflow on the same Pub/Sub feed, BigQuery history, Spanner Graph behind the same graph interface — one container, deployed by a single script (infra/deploy.sh).</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TextBox 119"/>
          <p:cNvSpPr txBox="1"/>
          <p:nvPr/>
        </p:nvSpPr>
        <p:spPr>
          <a:xfrm>
            <a:off x="265176" y="1234440"/>
            <a:ext cx="8613648" cy="530352"/>
          </a:xfrm>
          <a:prstGeom prst="rect">
            <a:avLst/>
          </a:prstGeom>
          <a:noFill/>
        </p:spPr>
        <p:txBody>
          <a:bodyPr wrap="square">
            <a:spAutoFit/>
          </a:bodyPr>
          <a:lstStyle/>
          <a:p>
            <a:r>
              <a:rPr b="1" sz="1300">
                <a:solidFill>
                  <a:srgbClr val="14183A"/>
                </a:solidFill>
                <a:latin typeface="Google Sans Flex"/>
              </a:rPr>
              <a:t>Frontend:  </a:t>
            </a:r>
            <a:r>
              <a:rPr sz="1300">
                <a:solidFill>
                  <a:srgbClr val="4A5068"/>
                </a:solidFill>
                <a:latin typeface="Google Sans Flex"/>
              </a:rPr>
              <a:t>React, TypeScript, React Query, React Flow, Vitest/RTL, axe-core</a:t>
            </a:r>
          </a:p>
        </p:txBody>
      </p:sp>
      <p:sp>
        <p:nvSpPr>
          <p:cNvPr id="121" name="TextBox 120"/>
          <p:cNvSpPr txBox="1"/>
          <p:nvPr/>
        </p:nvSpPr>
        <p:spPr>
          <a:xfrm>
            <a:off x="265176" y="1801368"/>
            <a:ext cx="8613648" cy="530352"/>
          </a:xfrm>
          <a:prstGeom prst="rect">
            <a:avLst/>
          </a:prstGeom>
          <a:noFill/>
        </p:spPr>
        <p:txBody>
          <a:bodyPr wrap="square">
            <a:spAutoFit/>
          </a:bodyPr>
          <a:lstStyle/>
          <a:p>
            <a:r>
              <a:rPr b="1" sz="1300">
                <a:solidFill>
                  <a:srgbClr val="14183A"/>
                </a:solidFill>
                <a:latin typeface="Google Sans Flex"/>
              </a:rPr>
              <a:t>Backend:  </a:t>
            </a:r>
            <a:r>
              <a:rPr sz="1300">
                <a:solidFill>
                  <a:srgbClr val="4A5068"/>
                </a:solidFill>
                <a:latin typeface="Google Sans Flex"/>
              </a:rPr>
              <a:t>FastAPI, SQLAlchemy 2, Alembic, LangGraph, scikit-learn, pytest</a:t>
            </a:r>
          </a:p>
        </p:txBody>
      </p:sp>
      <p:sp>
        <p:nvSpPr>
          <p:cNvPr id="122" name="TextBox 121"/>
          <p:cNvSpPr txBox="1"/>
          <p:nvPr/>
        </p:nvSpPr>
        <p:spPr>
          <a:xfrm>
            <a:off x="265176" y="2368296"/>
            <a:ext cx="8613648" cy="530352"/>
          </a:xfrm>
          <a:prstGeom prst="rect">
            <a:avLst/>
          </a:prstGeom>
          <a:noFill/>
        </p:spPr>
        <p:txBody>
          <a:bodyPr wrap="square">
            <a:spAutoFit/>
          </a:bodyPr>
          <a:lstStyle/>
          <a:p>
            <a:r>
              <a:rPr b="1" sz="1300">
                <a:solidFill>
                  <a:srgbClr val="14183A"/>
                </a:solidFill>
                <a:latin typeface="Google Sans Flex"/>
              </a:rPr>
              <a:t>Generative AI:  </a:t>
            </a:r>
            <a:r>
              <a:rPr sz="1300">
                <a:solidFill>
                  <a:srgbClr val="4A5068"/>
                </a:solidFill>
                <a:latin typeface="Google Sans Flex"/>
              </a:rPr>
              <a:t>Gemini (Pro / Flash / Flash-Lite) on Vertex AI</a:t>
            </a:r>
          </a:p>
        </p:txBody>
      </p:sp>
      <p:sp>
        <p:nvSpPr>
          <p:cNvPr id="123" name="TextBox 122"/>
          <p:cNvSpPr txBox="1"/>
          <p:nvPr/>
        </p:nvSpPr>
        <p:spPr>
          <a:xfrm>
            <a:off x="265176" y="2935224"/>
            <a:ext cx="8613648" cy="530352"/>
          </a:xfrm>
          <a:prstGeom prst="rect">
            <a:avLst/>
          </a:prstGeom>
          <a:noFill/>
        </p:spPr>
        <p:txBody>
          <a:bodyPr wrap="square">
            <a:spAutoFit/>
          </a:bodyPr>
          <a:lstStyle/>
          <a:p>
            <a:r>
              <a:rPr b="1" sz="1300">
                <a:solidFill>
                  <a:srgbClr val="14183A"/>
                </a:solidFill>
                <a:latin typeface="Google Sans Flex"/>
              </a:rPr>
              <a:t>Data:  </a:t>
            </a:r>
            <a:r>
              <a:rPr sz="1300">
                <a:solidFill>
                  <a:srgbClr val="4A5068"/>
                </a:solidFill>
                <a:latin typeface="Google Sans Flex"/>
              </a:rPr>
              <a:t>Cloud SQL (MySQL 8), Cloud Storage, SQLite (local dev)</a:t>
            </a:r>
          </a:p>
        </p:txBody>
      </p:sp>
      <p:sp>
        <p:nvSpPr>
          <p:cNvPr id="124" name="TextBox 123"/>
          <p:cNvSpPr txBox="1"/>
          <p:nvPr/>
        </p:nvSpPr>
        <p:spPr>
          <a:xfrm>
            <a:off x="265176" y="3502152"/>
            <a:ext cx="8613648" cy="530352"/>
          </a:xfrm>
          <a:prstGeom prst="rect">
            <a:avLst/>
          </a:prstGeom>
          <a:noFill/>
        </p:spPr>
        <p:txBody>
          <a:bodyPr wrap="square">
            <a:spAutoFit/>
          </a:bodyPr>
          <a:lstStyle/>
          <a:p>
            <a:r>
              <a:rPr b="1" sz="1300">
                <a:solidFill>
                  <a:srgbClr val="14183A"/>
                </a:solidFill>
                <a:latin typeface="Google Sans Flex"/>
              </a:rPr>
              <a:t>Security:  </a:t>
            </a:r>
            <a:r>
              <a:rPr sz="1300">
                <a:solidFill>
                  <a:srgbClr val="4A5068"/>
                </a:solidFill>
                <a:latin typeface="Google Sans Flex"/>
              </a:rPr>
              <a:t>Cloud KMS, Secret Manager, Cloud DLP, bcrypt + JWT, TOTP MFA</a:t>
            </a:r>
          </a:p>
        </p:txBody>
      </p:sp>
      <p:sp>
        <p:nvSpPr>
          <p:cNvPr id="125" name="TextBox 124"/>
          <p:cNvSpPr txBox="1"/>
          <p:nvPr/>
        </p:nvSpPr>
        <p:spPr>
          <a:xfrm>
            <a:off x="265176" y="4069080"/>
            <a:ext cx="8613648" cy="530352"/>
          </a:xfrm>
          <a:prstGeom prst="rect">
            <a:avLst/>
          </a:prstGeom>
          <a:noFill/>
        </p:spPr>
        <p:txBody>
          <a:bodyPr wrap="square">
            <a:spAutoFit/>
          </a:bodyPr>
          <a:lstStyle/>
          <a:p>
            <a:r>
              <a:rPr b="1" sz="1300">
                <a:solidFill>
                  <a:srgbClr val="14183A"/>
                </a:solidFill>
                <a:latin typeface="Google Sans Flex"/>
              </a:rPr>
              <a:t>Infra &amp; ops:  </a:t>
            </a:r>
            <a:r>
              <a:rPr sz="1300">
                <a:solidFill>
                  <a:srgbClr val="4A5068"/>
                </a:solidFill>
                <a:latin typeface="Google Sans Flex"/>
              </a:rPr>
              <a:t>Cloud Run, Pub/Sub, OpenTelemetry, Cloud Trace/Logging/Monitoring</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265176" y="1234440"/>
            <a:ext cx="8613648" cy="3291840"/>
          </a:xfrm>
          <a:prstGeom prst="rect">
            <a:avLst/>
          </a:prstGeom>
          <a:noFill/>
        </p:spPr>
        <p:txBody>
          <a:bodyPr wrap="square">
            <a:spAutoFit/>
          </a:bodyPr>
          <a:lstStyle/>
          <a:p>
            <a:pPr>
              <a:spcAft>
                <a:spcPts val="600"/>
              </a:spcAft>
            </a:pPr>
            <a:r>
              <a:rPr sz="1300" b="0">
                <a:solidFill>
                  <a:srgbClr val="4A5068"/>
                </a:solidFill>
                <a:latin typeface="Google Sans Flex"/>
              </a:rPr>
              <a:t>Cloud Run scales to zero between requests, so a pilot costs little when idle. Rough monthly figures for a single-branch / low-volume pilot (not full bank scale):</a:t>
            </a:r>
          </a:p>
          <a:p>
            <a:pPr>
              <a:spcAft>
                <a:spcPts val="600"/>
              </a:spcAft>
            </a:pPr>
            <a:r>
              <a:rPr sz="1300" b="0">
                <a:solidFill>
                  <a:srgbClr val="4A5068"/>
                </a:solidFill>
                <a:latin typeface="Google Sans Flex"/>
              </a:rPr>
              <a:t>•  Cloud SQL (db-f1-micro, always on): roughly $10–$15/month</a:t>
            </a:r>
          </a:p>
          <a:p>
            <a:pPr>
              <a:spcAft>
                <a:spcPts val="600"/>
              </a:spcAft>
            </a:pPr>
            <a:r>
              <a:rPr sz="1300" b="0">
                <a:solidFill>
                  <a:srgbClr val="4A5068"/>
                </a:solidFill>
                <a:latin typeface="Google Sans Flex"/>
              </a:rPr>
              <a:t>•  Cloud Run, Cloud Storage, Pub/Sub, KMS, Secret Manager at pilot traffic: a few dollars/month combined</a:t>
            </a:r>
          </a:p>
          <a:p>
            <a:pPr>
              <a:spcAft>
                <a:spcPts val="600"/>
              </a:spcAft>
            </a:pPr>
            <a:r>
              <a:rPr sz="1300" b="0">
                <a:solidFill>
                  <a:srgbClr val="4A5068"/>
                </a:solidFill>
                <a:latin typeface="Google Sans Flex"/>
              </a:rPr>
              <a:t>•  Gemini (Vertex AI): measured at about $0.20 per full AI investigation; routine chat/FAQ answers now use Flash-Lite, a fraction of a cent each</a:t>
            </a:r>
          </a:p>
          <a:p>
            <a:pPr>
              <a:spcAft>
                <a:spcPts val="600"/>
              </a:spcAft>
            </a:pPr>
            <a:r>
              <a:rPr sz="1300" b="0">
                <a:solidFill>
                  <a:srgbClr val="4A5068"/>
                </a:solidFill>
                <a:latin typeface="Google Sans Flex"/>
              </a:rPr>
              <a:t>A pilot handling a few hundred disputes a month is estimated at roughly $50–$150/month, dominated by Cloud SQL and Gemini usage — scaling close to linearly with investigation volume after that. Full bank scale would add Spanner Graph, BigQuery and Dataflow (see the architecture slide).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overview.png"/>
          <p:cNvPicPr>
            <a:picLocks noChangeAspect="1"/>
          </p:cNvPicPr>
          <p:nvPr/>
        </p:nvPicPr>
        <p:blipFill>
          <a:blip r:embed="rId5"/>
          <a:stretch>
            <a:fillRect/>
          </a:stretch>
        </p:blipFill>
        <p:spPr>
          <a:xfrm>
            <a:off x="1172068" y="1234440"/>
            <a:ext cx="2392455" cy="1600200"/>
          </a:xfrm>
          <a:prstGeom prst="rect">
            <a:avLst/>
          </a:prstGeom>
        </p:spPr>
      </p:pic>
      <p:sp>
        <p:nvSpPr>
          <p:cNvPr id="137" name="TextBox 136"/>
          <p:cNvSpPr txBox="1"/>
          <p:nvPr/>
        </p:nvSpPr>
        <p:spPr>
          <a:xfrm>
            <a:off x="265176" y="2852928"/>
            <a:ext cx="4206240" cy="274320"/>
          </a:xfrm>
          <a:prstGeom prst="rect">
            <a:avLst/>
          </a:prstGeom>
          <a:noFill/>
        </p:spPr>
        <p:txBody>
          <a:bodyPr wrap="square">
            <a:spAutoFit/>
          </a:bodyPr>
          <a:lstStyle/>
          <a:p>
            <a:pPr algn="ctr"/>
            <a:r>
              <a:rPr sz="900">
                <a:solidFill>
                  <a:srgbClr val="4A5068"/>
                </a:solidFill>
                <a:latin typeface="Google Sans Flex"/>
              </a:rPr>
              <a:t>Case overview — six separate checks</a:t>
            </a:r>
          </a:p>
        </p:txBody>
      </p:sp>
      <p:pic>
        <p:nvPicPr>
          <p:cNvPr id="138" name="Picture 137" descr="graph_cropped.png"/>
          <p:cNvPicPr>
            <a:picLocks noChangeAspect="1"/>
          </p:cNvPicPr>
          <p:nvPr/>
        </p:nvPicPr>
        <p:blipFill>
          <a:blip r:embed="rId6"/>
          <a:stretch>
            <a:fillRect/>
          </a:stretch>
        </p:blipFill>
        <p:spPr>
          <a:xfrm>
            <a:off x="4783640" y="1234440"/>
            <a:ext cx="3947552" cy="1600200"/>
          </a:xfrm>
          <a:prstGeom prst="rect">
            <a:avLst/>
          </a:prstGeom>
        </p:spPr>
      </p:pic>
      <p:sp>
        <p:nvSpPr>
          <p:cNvPr id="139" name="TextBox 138"/>
          <p:cNvSpPr txBox="1"/>
          <p:nvPr/>
        </p:nvSpPr>
        <p:spPr>
          <a:xfrm>
            <a:off x="4654296" y="2852928"/>
            <a:ext cx="4206240" cy="274320"/>
          </a:xfrm>
          <a:prstGeom prst="rect">
            <a:avLst/>
          </a:prstGeom>
          <a:noFill/>
        </p:spPr>
        <p:txBody>
          <a:bodyPr wrap="square">
            <a:spAutoFit/>
          </a:bodyPr>
          <a:lstStyle/>
          <a:p>
            <a:pPr algn="ctr"/>
            <a:r>
              <a:rPr sz="900">
                <a:solidFill>
                  <a:srgbClr val="4A5068"/>
                </a:solidFill>
                <a:latin typeface="Google Sans Flex"/>
              </a:rPr>
              <a:t>Money trail with attribution ranges</a:t>
            </a:r>
          </a:p>
        </p:txBody>
      </p:sp>
      <p:pic>
        <p:nvPicPr>
          <p:cNvPr id="140" name="Picture 139" descr="recovery.png"/>
          <p:cNvPicPr>
            <a:picLocks noChangeAspect="1"/>
          </p:cNvPicPr>
          <p:nvPr/>
        </p:nvPicPr>
        <p:blipFill>
          <a:blip r:embed="rId7"/>
          <a:stretch>
            <a:fillRect/>
          </a:stretch>
        </p:blipFill>
        <p:spPr>
          <a:xfrm>
            <a:off x="472674" y="3108960"/>
            <a:ext cx="3791243" cy="1600200"/>
          </a:xfrm>
          <a:prstGeom prst="rect">
            <a:avLst/>
          </a:prstGeom>
        </p:spPr>
      </p:pic>
      <p:sp>
        <p:nvSpPr>
          <p:cNvPr id="141" name="TextBox 140"/>
          <p:cNvSpPr txBox="1"/>
          <p:nvPr/>
        </p:nvSpPr>
        <p:spPr>
          <a:xfrm>
            <a:off x="265176" y="4727448"/>
            <a:ext cx="4206240" cy="274320"/>
          </a:xfrm>
          <a:prstGeom prst="rect">
            <a:avLst/>
          </a:prstGeom>
          <a:noFill/>
        </p:spPr>
        <p:txBody>
          <a:bodyPr wrap="square">
            <a:spAutoFit/>
          </a:bodyPr>
          <a:lstStyle/>
          <a:p>
            <a:pPr algn="ctr"/>
            <a:r>
              <a:rPr sz="900">
                <a:solidFill>
                  <a:srgbClr val="4A5068"/>
                </a:solidFill>
                <a:latin typeface="Google Sans Flex"/>
              </a:rPr>
              <a:t>Shared-account recovery split</a:t>
            </a:r>
          </a:p>
        </p:txBody>
      </p:sp>
      <p:pic>
        <p:nvPicPr>
          <p:cNvPr id="142" name="Picture 141" descr="risk.png"/>
          <p:cNvPicPr>
            <a:picLocks noChangeAspect="1"/>
          </p:cNvPicPr>
          <p:nvPr/>
        </p:nvPicPr>
        <p:blipFill>
          <a:blip r:embed="rId8"/>
          <a:stretch>
            <a:fillRect/>
          </a:stretch>
        </p:blipFill>
        <p:spPr>
          <a:xfrm>
            <a:off x="5030216" y="3108960"/>
            <a:ext cx="3454400" cy="1600200"/>
          </a:xfrm>
          <a:prstGeom prst="rect">
            <a:avLst/>
          </a:prstGeom>
        </p:spPr>
      </p:pic>
      <p:sp>
        <p:nvSpPr>
          <p:cNvPr id="143" name="TextBox 142"/>
          <p:cNvSpPr txBox="1"/>
          <p:nvPr/>
        </p:nvSpPr>
        <p:spPr>
          <a:xfrm>
            <a:off x="4654296" y="4727448"/>
            <a:ext cx="4206240" cy="274320"/>
          </a:xfrm>
          <a:prstGeom prst="rect">
            <a:avLst/>
          </a:prstGeom>
          <a:noFill/>
        </p:spPr>
        <p:txBody>
          <a:bodyPr wrap="square">
            <a:spAutoFit/>
          </a:bodyPr>
          <a:lstStyle/>
          <a:p>
            <a:pPr algn="ctr"/>
            <a:r>
              <a:rPr sz="900">
                <a:solidFill>
                  <a:srgbClr val="4A5068"/>
                </a:solidFill>
                <a:latin typeface="Google Sans Flex"/>
              </a:rPr>
              <a:t>Warning signs with record-level evidence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265176" y="1234440"/>
            <a:ext cx="8613648" cy="3291840"/>
          </a:xfrm>
          <a:prstGeom prst="rect">
            <a:avLst/>
          </a:prstGeom>
          <a:noFill/>
        </p:spPr>
        <p:txBody>
          <a:bodyPr wrap="square">
            <a:spAutoFit/>
          </a:bodyPr>
          <a:lstStyle/>
          <a:p>
            <a:pPr>
              <a:spcAft>
                <a:spcPts val="600"/>
              </a:spcAft>
            </a:pPr>
            <a:r>
              <a:rPr sz="1300" b="0">
                <a:solidFill>
                  <a:srgbClr val="4A5068"/>
                </a:solidFill>
                <a:latin typeface="Google Sans Flex"/>
              </a:rPr>
              <a:t>•  104/104 deterministic ground-truth checks pass; rule precision and recall 1.0 on labelled scenarios</a:t>
            </a:r>
          </a:p>
          <a:p>
            <a:pPr>
              <a:spcAft>
                <a:spcPts val="600"/>
              </a:spcAft>
            </a:pPr>
            <a:r>
              <a:rPr sz="1300" b="0">
                <a:solidFill>
                  <a:srgbClr val="4A5068"/>
                </a:solidFill>
                <a:latin typeface="Google Sans Flex"/>
              </a:rPr>
              <a:t>•  251 backend tests, 113 frontend tests, all passing; TypeScript, lint and build all clean</a:t>
            </a:r>
          </a:p>
          <a:p>
            <a:pPr>
              <a:spcAft>
                <a:spcPts val="600"/>
              </a:spcAft>
            </a:pPr>
            <a:r>
              <a:rPr sz="1300" b="0">
                <a:solidFill>
                  <a:srgbClr val="4A5068"/>
                </a:solidFill>
                <a:latin typeface="Google Sans Flex"/>
              </a:rPr>
              <a:t>•  Behaviour model (ML): synthetic hold-out on fresh random seeds, never the hand-written scenarios — mean ROC-AUC ≈ 0.78, precision@k ≈ 0.41, labelled honestly as a synthetic result</a:t>
            </a:r>
          </a:p>
          <a:p>
            <a:pPr>
              <a:spcAft>
                <a:spcPts val="600"/>
              </a:spcAft>
            </a:pPr>
            <a:r>
              <a:rPr sz="1300" b="0">
                <a:solidFill>
                  <a:srgbClr val="4A5068"/>
                </a:solidFill>
                <a:latin typeface="Google Sans Flex"/>
              </a:rPr>
              <a:t>•  Live Gemini report: 35/35 claims confirmed by the fact-check on the first live run; cost ≈ $0.20 per full investigation, measured per call</a:t>
            </a:r>
          </a:p>
          <a:p>
            <a:pPr>
              <a:spcAft>
                <a:spcPts val="600"/>
              </a:spcAft>
            </a:pPr>
            <a:r>
              <a:rPr sz="1300" b="0">
                <a:solidFill>
                  <a:srgbClr val="4A5068"/>
                </a:solidFill>
                <a:latin typeface="Google Sans Flex"/>
              </a:rPr>
              <a:t>•  Chat latency: a greeting now answers in about 0.2s (code, no AI call); a real question answers in a few seconds on a Flash-Lite model instead of up to ≈ 60s on the general-purpose chain</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TextBox 151"/>
          <p:cNvSpPr txBox="1"/>
          <p:nvPr/>
        </p:nvSpPr>
        <p:spPr>
          <a:xfrm>
            <a:off x="265176" y="1234440"/>
            <a:ext cx="8613648" cy="3291840"/>
          </a:xfrm>
          <a:prstGeom prst="rect">
            <a:avLst/>
          </a:prstGeom>
          <a:noFill/>
        </p:spPr>
        <p:txBody>
          <a:bodyPr wrap="square">
            <a:spAutoFit/>
          </a:bodyPr>
          <a:lstStyle/>
          <a:p>
            <a:pPr>
              <a:spcAft>
                <a:spcPts val="600"/>
              </a:spcAft>
            </a:pPr>
            <a:r>
              <a:rPr sz="1300" b="0">
                <a:solidFill>
                  <a:srgbClr val="4A5068"/>
                </a:solidFill>
                <a:latin typeface="Google Sans Flex"/>
              </a:rPr>
              <a:t>•  Live bank feeds on the existing Pub/Sub ingest, and Spanner Graph for production trail volumes</a:t>
            </a:r>
          </a:p>
          <a:p>
            <a:pPr>
              <a:spcAft>
                <a:spcPts val="600"/>
              </a:spcAft>
            </a:pPr>
            <a:r>
              <a:rPr sz="1300" b="0">
                <a:solidFill>
                  <a:srgbClr val="4A5068"/>
                </a:solidFill>
                <a:latin typeface="Google Sans Flex"/>
              </a:rPr>
              <a:t>•  Cross-bank trail and hold requests through national cyber-fraud reporting channels</a:t>
            </a:r>
          </a:p>
          <a:p>
            <a:pPr>
              <a:spcAft>
                <a:spcPts val="600"/>
              </a:spcAft>
            </a:pPr>
            <a:r>
              <a:rPr sz="1300" b="0">
                <a:solidFill>
                  <a:srgbClr val="4A5068"/>
                </a:solidFill>
                <a:latin typeface="Google Sans Flex"/>
              </a:rPr>
              <a:t>•  Supervised models trained on investigator-labelled outcomes, with the rules kept as explanations</a:t>
            </a:r>
          </a:p>
          <a:p>
            <a:pPr>
              <a:spcAft>
                <a:spcPts val="600"/>
              </a:spcAft>
            </a:pPr>
            <a:r>
              <a:rPr sz="1300" b="0">
                <a:solidFill>
                  <a:srgbClr val="4A5068"/>
                </a:solidFill>
                <a:latin typeface="Google Sans Flex"/>
              </a:rPr>
              <a:t>•  An investigator feedback loop on claim reviews, to tune prompts and the judge</a:t>
            </a:r>
          </a:p>
          <a:p>
            <a:pPr>
              <a:spcAft>
                <a:spcPts val="600"/>
              </a:spcAft>
            </a:pPr>
            <a:r>
              <a:rPr sz="1300" b="0">
                <a:solidFill>
                  <a:srgbClr val="4A5068"/>
                </a:solidFill>
                <a:latin typeface="Google Sans Flex"/>
              </a:rPr>
              <a:t>•  Scheduled evidence-retention runs and live bank connections on the ingest path</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a:t>
            </a:r>
            <a:r>
              <a:rPr sz="1300">
                <a:solidFill>
                  <a:srgbClr val="A8650B"/>
                </a:solidFill>
                <a:latin typeface="Google Sans Flex"/>
              </a:rPr>
              <a:t>  https://github.com/nawin-viswajith/fundtrace</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r>
              <a:rPr sz="1300">
                <a:solidFill>
                  <a:srgbClr val="A8650B"/>
                </a:solidFill>
                <a:latin typeface="Google Sans Flex"/>
              </a:rPr>
              <a:t>  https://www.youtube.com/watch?v=KNB5TJZJ1Qw</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a:t>
            </a:r>
            <a:r>
              <a:rPr sz="1300">
                <a:solidFill>
                  <a:srgbClr val="A8650B"/>
                </a:solidFill>
                <a:latin typeface="Google Sans Flex"/>
              </a:rPr>
              <a:t>  https://fundtrace-541805214490.asia-south1.run.app/login</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